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900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Acme Holdings leads the FY2026 pipeline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FY2026 (AED m)</c:v>
                </c:pt>
              </c:strCache>
            </c:strRef>
          </c:tx>
          <c:spPr>
            <a:solidFill>
              <a:srgbClr val="1F9E9A"/>
            </a:solidFill>
          </c:spPr>
          <c:cat>
            <c:strRef>
              <c:f>Sheet1!$A$2:$A$4</c:f>
              <c:strCache>
                <c:ptCount val="3"/>
                <c:pt idx="0">
                  <c:v>Acme Holdings</c:v>
                </c:pt>
                <c:pt idx="1">
                  <c:v>Northwind Group</c:v>
                </c:pt>
                <c:pt idx="2">
                  <c:v>Contoso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8.2</c:v>
                </c:pt>
                <c:pt idx="2">
                  <c:v>5.4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09:00:00.000" idx="1">
    <p:pos x="10" y="10"/>
    <p:text>Confirm IBAN with Faisal on XXXX before sending.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only: client paid deposit with card </a:t>
            </a:r>
            <a:r>
              <a:t>XXXX</a:t>
            </a:r>
            <a:r>
              <a:t>. Follow up with Sara on </a:t>
            </a:r>
            <a:r>
              <a:t>XXXX</a:t>
            </a:r>
            <a:r>
              <a:t> before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XXX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900" Type="http://schemas.openxmlformats.org/officeDocument/2006/relationships/comments" Target="../comments/commen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Project Falcon: Market Entry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9E9A"/>
                </a:solidFill>
              </a:rPr>
              <a:t>Prepared for Acme Holdings  |  27/09/2026</a:t>
            </a:r>
          </a:p>
        </p:txBody>
      </p:sp>
      <p:pic>
        <p:nvPicPr>
          <p:cNvPr id="5" name="Picture 4" descr="Logo supplied by XXX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Key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Split formatting, hyperlinks, grouped shapes, Arabic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33333"/>
                </a:solidFill>
              </a:rPr>
              <a:t>Sara Mansour</a:t>
            </a:r>
            <a:r>
              <a:rPr sz="1600" b="0">
                <a:solidFill>
                  <a:srgbClr val="333333"/>
                </a:solidFill>
              </a:rPr>
              <a:t>, Head of Strategy, Acme Holdings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Mobile: </a:t>
            </a:r>
            <a:r>
              <a:rPr sz="1600" b="1">
                <a:solidFill>
                  <a:srgbClr val="1F9E9A"/>
                </a:solidFill>
              </a:rPr>
              <a:t>XXXX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Email: </a:t>
            </a:r>
            <a:r>
              <a:rPr sz="1600" b="0">
                <a:solidFill>
                  <a:srgbClr val="1F9E9A"/>
                </a:solidFill>
                <a:hlinkClick r:id="rId2"/>
              </a:rPr>
              <a:t>XXXX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</a:rPr>
              <a:t>KSA office: </a:t>
            </a:r>
            <a:r>
              <a:rPr sz="1400" b="0">
                <a:solidFill>
                  <a:srgbClr val="333333"/>
                </a:solidFill>
              </a:rPr>
              <a:t>XXXX</a:t>
            </a:r>
            <a:r>
              <a:rPr sz="1400" b="0">
                <a:solidFill>
                  <a:srgbClr val="333333"/>
                </a:solidFill>
              </a:rPr>
              <a:t>  |  Jordan: </a:t>
            </a:r>
            <a:r>
              <a:rPr sz="1400" b="0">
                <a:solidFill>
                  <a:srgbClr val="333333"/>
                </a:solidFill>
              </a:rPr>
              <a:t>XXXX</a:t>
            </a:r>
            <a:r>
              <a:rPr sz="1400" b="0">
                <a:solidFill>
                  <a:srgbClr val="333333"/>
                </a:solidFill>
              </a:rPr>
              <a:t>  |  Qatar: </a:t>
            </a:r>
            <a:r>
              <a:rPr sz="1400" b="0">
                <a:solidFill>
                  <a:srgbClr val="333333"/>
                </a:solidFill>
              </a:rPr>
              <a:t>XXXX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583680" y="2011680"/>
            <a:ext cx="5029200" cy="1463040"/>
            <a:chOff x="6583680" y="2011680"/>
            <a:chExt cx="5029200" cy="1463040"/>
          </a:xfrm>
        </p:grpSpPr>
        <p:sp>
          <p:nvSpPr>
            <p:cNvPr id="7" name="Rounded Rectangle 6"/>
            <p:cNvSpPr/>
            <p:nvPr/>
          </p:nvSpPr>
          <p:spPr>
            <a:xfrm>
              <a:off x="6583680" y="2011680"/>
              <a:ext cx="5029200" cy="1463040"/>
            </a:xfrm>
            <a:prstGeom prst="roundRect">
              <a:avLst/>
            </a:prstGeom>
            <a:solidFill>
              <a:srgbClr val="F2F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766560" y="2148840"/>
              <a:ext cx="4663440" cy="1188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sz="1400"/>
                <a:t>Signatory (grouped shape)</a:t>
              </a:r>
            </a:p>
            <a:p>
              <a:r>
                <a:rPr sz="1400"/>
                <a:t>Emirates ID </a:t>
              </a:r>
              <a:r>
                <a:rPr sz="1400"/>
                <a:t>XXXX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3931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جهة الاتصال: سارة منصور، هاتف </a:t>
            </a:r>
            <a:r>
              <a:rPr sz="1600" b="0">
                <a:solidFill>
                  <a:srgbClr val="333333"/>
                </a:solidFill>
              </a:rPr>
              <a:t>XXXX</a:t>
            </a:r>
          </a:p>
          <a:p>
            <a:pPr algn="r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</a:rPr>
              <a:t>البريد: </a:t>
            </a:r>
            <a:r>
              <a:rPr sz="1400" b="0">
                <a:solidFill>
                  <a:srgbClr val="333333"/>
                </a:solidFill>
              </a:rPr>
              <a:t>XXXX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Beneficiary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IBANs with checksums, national IDs, context-based rules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4206240"/>
                <a:gridCol w="3474720"/>
              </a:tblGrid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Beneficiary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Account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Identifier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UAE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Sara Mansour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Emirates ID </a:t>
                      </a:r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KSA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Faisal Al Harbi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Iqama </a:t>
                      </a:r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Jordan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Lina Qasem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National No: </a:t>
                      </a:r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Ahmed Al Thani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QID: </a:t>
                      </a:r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Travel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Omar Khalil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Passport: </a:t>
                      </a:r>
                      <a:r>
                        <a:rPr sz="1300" b="0">
                          <a:solidFill>
                            <a:srgbClr val="333333"/>
                          </a:solidFill>
                        </a:rPr>
                        <a:t>XXXX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Pipeline by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Chart title, labels, and embedded Excel data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9202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</a:rPr>
              <a:t>Account owner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XXXX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XXXX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Should NOT Be Redacted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False-positive checks: all values below must survive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Invalid card (fails Luhn): 4111 1111 1111 1112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Invalid IBAN (bad checksum): AE000331234567890123456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10-digit number with no ID keyword nearby: 9861012345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Contract value: AED 12,500,000  |  Date: 27/09/2026  |  Reference: 2026-Q3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Project codename in another word: Falconry workshop (flagged only if 'Falcon' is a keyword)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Appendix (Hidden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Should be scanned even though it is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Backup contact: </a:t>
            </a:r>
            <a:r>
              <a:rPr sz="1800" b="0">
                <a:solidFill>
                  <a:srgbClr val="333333"/>
                </a:solidFill>
              </a:rPr>
              <a:t>XXXX</a:t>
            </a:r>
            <a:r>
              <a:rPr sz="1800" b="0">
                <a:solidFill>
                  <a:srgbClr val="333333"/>
                </a:solidFill>
              </a:rPr>
              <a:t>, </a:t>
            </a:r>
            <a:r>
              <a:rPr sz="1800" b="0">
                <a:solidFill>
                  <a:srgbClr val="333333"/>
                </a:solidFill>
              </a:rPr>
              <a:t>XXXX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Escrow account: </a:t>
            </a:r>
            <a:r>
              <a:rPr sz="1800" b="0">
                <a:solidFill>
                  <a:srgbClr val="333333"/>
                </a:solidFill>
              </a:rPr>
              <a:t>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Falcon Proposal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