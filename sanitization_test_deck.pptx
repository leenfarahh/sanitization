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ayla Haddad" initials="LH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900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Acme Holdings leads the FY2026 pipeline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FY2026 (AED m)</c:v>
                </c:pt>
              </c:strCache>
            </c:strRef>
          </c:tx>
          <c:spPr>
            <a:solidFill>
              <a:srgbClr val="1F9E9A"/>
            </a:solidFill>
          </c:spPr>
          <c:cat>
            <c:strRef>
              <c:f>Sheet1!$A$2:$A$4</c:f>
              <c:strCache>
                <c:ptCount val="3"/>
                <c:pt idx="0">
                  <c:v>Acme Holdings</c:v>
                </c:pt>
                <c:pt idx="1">
                  <c:v>Northwind Group</c:v>
                </c:pt>
                <c:pt idx="2">
                  <c:v>Contoso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12.5</c:v>
                </c:pt>
                <c:pt idx="1">
                  <c:v>8.2</c:v>
                </c:pt>
                <c:pt idx="2">
                  <c:v>5.4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7T09:00:00.000" idx="1">
    <p:pos x="10" y="10"/>
    <p:text>Confirm IBAN with Faisal on 0551234567 before sending.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only: client paid deposit with card 4111 1111 1111 1111. Follow up with Sara on +971 50 123 4567 before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mailto:sara.mansour@acme-example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900" Type="http://schemas.openxmlformats.org/officeDocument/2006/relationships/comments" Target="../comments/commen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4000" b="1">
                <a:solidFill>
                  <a:srgbClr val="FFFFFF"/>
                </a:solidFill>
              </a:rPr>
              <a:t>Project Falcon: Market Entry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9E9A"/>
                </a:solidFill>
              </a:rPr>
              <a:t>Prepared for Acme Holdings  |  27/09/2026</a:t>
            </a:r>
          </a:p>
        </p:txBody>
      </p:sp>
      <p:pic>
        <p:nvPicPr>
          <p:cNvPr id="5" name="Picture 4" descr="Logo supplied by sara.mansour@acme-example.c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475488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Key Contacts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Split formatting, hyperlinks, grouped shapes, Arabic 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333333"/>
                </a:solidFill>
              </a:rPr>
              <a:t>Sara Mansour</a:t>
            </a:r>
            <a:r>
              <a:rPr sz="1600" b="0">
                <a:solidFill>
                  <a:srgbClr val="333333"/>
                </a:solidFill>
              </a:rPr>
              <a:t>, Head of Strategy, Acme Holdings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Mobile: </a:t>
            </a:r>
            <a:r>
              <a:rPr sz="1600" b="1">
                <a:solidFill>
                  <a:srgbClr val="1F9E9A"/>
                </a:solidFill>
              </a:rPr>
              <a:t>+971 50</a:t>
            </a:r>
            <a:r>
              <a:rPr sz="1600" b="0">
                <a:solidFill>
                  <a:srgbClr val="333333"/>
                </a:solidFill>
              </a:rPr>
              <a:t> 123 4567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Email: </a:t>
            </a:r>
            <a:r>
              <a:rPr sz="1600" b="0">
                <a:solidFill>
                  <a:srgbClr val="1F9E9A"/>
                </a:solidFill>
                <a:hlinkClick r:id="rId2"/>
              </a:rPr>
              <a:t>sara.mansour@acme-example.com</a:t>
            </a:r>
          </a:p>
          <a:p>
            <a:pPr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KSA office: +966 55 123 4567  |  Jordan: 0791234567  |  Qatar: +974 5512 3456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6583680" y="2011680"/>
            <a:ext cx="5029200" cy="1463040"/>
            <a:chOff x="6583680" y="2011680"/>
            <a:chExt cx="5029200" cy="1463040"/>
          </a:xfrm>
        </p:grpSpPr>
        <p:sp>
          <p:nvSpPr>
            <p:cNvPr id="7" name="Rounded Rectangle 6"/>
            <p:cNvSpPr/>
            <p:nvPr/>
          </p:nvSpPr>
          <p:spPr>
            <a:xfrm>
              <a:off x="6583680" y="2011680"/>
              <a:ext cx="5029200" cy="1463040"/>
            </a:xfrm>
            <a:prstGeom prst="roundRect">
              <a:avLst/>
            </a:prstGeom>
            <a:solidFill>
              <a:srgbClr val="F2F4F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766560" y="2148840"/>
              <a:ext cx="4663440" cy="11887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b="1" sz="1400"/>
                <a:t>Signatory (grouped shape)</a:t>
              </a:r>
            </a:p>
            <a:p>
              <a:r>
                <a:rPr sz="1400"/>
                <a:t>Emirates ID 784-1990-1234567-1</a:t>
              </a:r>
            </a:p>
          </p:txBody>
        </p:sp>
      </p:grpSp>
      <p:sp>
        <p:nvSpPr>
          <p:cNvPr id="9" name="TextBox 8"/>
          <p:cNvSpPr txBox="1"/>
          <p:nvPr/>
        </p:nvSpPr>
        <p:spPr>
          <a:xfrm>
            <a:off x="6583680" y="39319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00"/>
              </a:spcAft>
            </a:pPr>
            <a:r>
              <a:rPr sz="1600" b="0">
                <a:solidFill>
                  <a:srgbClr val="333333"/>
                </a:solidFill>
              </a:rPr>
              <a:t>جهة الاتصال: سارة منصور، هاتف ٠٥٠١٢٣٤٥٦٧</a:t>
            </a:r>
          </a:p>
          <a:p>
            <a:pPr algn="r">
              <a:spcAft>
                <a:spcPts val="800"/>
              </a:spcAft>
            </a:pPr>
            <a:r>
              <a:rPr sz="1400" b="0">
                <a:solidFill>
                  <a:srgbClr val="333333"/>
                </a:solidFill>
              </a:rPr>
              <a:t>البريد: sara.mansour@acme-example.com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Beneficiary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IBANs with checksums, national IDs, context-based rules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4206240"/>
                <a:gridCol w="3474720"/>
              </a:tblGrid>
              <a:tr h="6096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Beneficiary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Account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Identifier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UAE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Sara Mansour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AE070331234567890123456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Emirates ID 784-1990-1234567-1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KSA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Faisal Al Harbi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SA03 8000 0000 6080 1016 7519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Iqama 1087654321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Jordan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Lina Qasem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JO94CBJO0010000000000131000302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National No: 9861012345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Qatar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Ahmed Al Thani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QA58DOHB00001234567890ABCDEFG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QID: 28740012345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Travel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Omar Khalil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n/a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333333"/>
                          </a:solidFill>
                        </a:rPr>
                        <a:t>Passport: N1234567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Pipeline by Client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Chart title, labels, and embedded Excel data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9202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0" y="219456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333333"/>
                </a:solidFill>
              </a:rPr>
              <a:t>Account owner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omar.khalil@prezlab-example.com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333333"/>
                </a:solidFill>
              </a:rPr>
              <a:t>+962 79 123 4567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Should NOT Be Redacted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False-positive checks: all values below must survive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Invalid card (fails Luhn): 4111 1111 1111 1112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Invalid IBAN (bad checksum): AE000331234567890123456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10-digit number with no ID keyword nearby: 9861012345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Contract value: AED 12,500,000  |  Date: 27/09/2026  |  Reference: 2026-Q3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Project codename in another word: Falconry workshop (flagged only if 'Falcon' is a keyword)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FFFFFF"/>
                </a:solidFill>
              </a:rPr>
              <a:t>Appendix (Hidden Slide)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>
                <a:solidFill>
                  <a:srgbClr val="1F9E9A"/>
                </a:solidFill>
              </a:rPr>
              <a:t>Should be scanned even though it is hidden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Backup contact: lina.qasem@acme-example.com, 0791234567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333333"/>
                </a:solidFill>
              </a:rPr>
              <a:t>Escrow account: QA58 DOHB 0000 1234 5678 90AB CDEF 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>Omar Khalil</Manager>
  <Company>Acme Holdings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Falcon Proposal</dc:title>
  <dc:subject/>
  <dc:creator>Omar Khalil</dc:creator>
  <cp:keywords/>
  <dc:description>generated using python-pptx</dc:description>
  <cp:lastModifiedBy>Omar Khalil</cp:lastModifiedBy>
  <cp:revision>1</cp:revision>
  <dcterms:created xsi:type="dcterms:W3CDTF">2013-01-27T09:14:16Z</dcterms:created>
  <dcterms:modified xsi:type="dcterms:W3CDTF">2013-01-27T09:15:58Z</dcterms:modified>
  <cp:category/>
</cp:coreProperties>
</file>